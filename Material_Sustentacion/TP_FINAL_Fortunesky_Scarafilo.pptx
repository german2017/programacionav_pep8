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M4HeROUxjvXCtkTou+9cV9DzV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b99339c81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b99339c81_0_4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Justificación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262626"/>
                </a:solidFill>
              </a:rPr>
              <a:t>Se agrupó GRAVE + MORTAL por baja frecuencia de eventos críticos.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>
                <a:solidFill>
                  <a:srgbClr val="262626"/>
                </a:solidFill>
              </a:rPr>
              <a:t>El problema final se formuló como clasificación binaria supervisada.</a:t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b99339c81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La selección se basó principalmente en F1 Score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 estabilidad obtenida en Cross Validation. </a:t>
            </a:r>
            <a:endParaRPr/>
          </a:p>
        </p:txBody>
      </p:sp>
      <p:sp>
        <p:nvSpPr>
          <p:cNvPr id="213" name="Google Shape;213;g3eb99339c81_0_3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b99339c81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eb99339c81_0_3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309723" y="89200"/>
            <a:ext cx="383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Problema y objetivo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s-3-png_Logo-secundario-1-1024x496.png" id="86" name="Google Shape;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0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/>
          <p:cNvSpPr txBox="1"/>
          <p:nvPr/>
        </p:nvSpPr>
        <p:spPr>
          <a:xfrm>
            <a:off x="411475" y="6473950"/>
            <a:ext cx="1156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5C5C5C"/>
                </a:solidFill>
              </a:rPr>
              <a:t>Fortunesky Iván - Scarafilo Germán - </a:t>
            </a:r>
            <a:r>
              <a:rPr b="1" lang="en-US" sz="1700">
                <a:solidFill>
                  <a:srgbClr val="5C5C5C"/>
                </a:solidFill>
              </a:rPr>
              <a:t>UNICABA · Trabajo Final · Programación Avanzada en Ciencia de Datos</a:t>
            </a:r>
            <a:endParaRPr b="1" sz="2200"/>
          </a:p>
        </p:txBody>
      </p:sp>
      <p:sp>
        <p:nvSpPr>
          <p:cNvPr id="88" name="Google Shape;88;p2"/>
          <p:cNvSpPr/>
          <p:nvPr/>
        </p:nvSpPr>
        <p:spPr>
          <a:xfrm>
            <a:off x="6648550" y="2638725"/>
            <a:ext cx="5147100" cy="355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Objetivo del proyecto</a:t>
            </a:r>
            <a:endParaRPr b="1" sz="2500">
              <a:solidFill>
                <a:srgbClr val="522263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522263"/>
              </a:solidFill>
              <a:latin typeface="Play"/>
              <a:ea typeface="Play"/>
              <a:cs typeface="Play"/>
              <a:sym typeface="Play"/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Comprender factores asociados a siniestros graves o mortales.</a:t>
            </a:r>
            <a:endParaRPr sz="1700"/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Construir un modelo predictivo para anticipar casos graves/mortales.</a:t>
            </a:r>
            <a:endParaRPr sz="1700"/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Char char="●"/>
            </a:pPr>
            <a:r>
              <a:rPr lang="en-US" sz="21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Comunicar resultados mediante un dashboard y una defensa </a:t>
            </a:r>
            <a:r>
              <a:rPr lang="en-US" sz="21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ejecutiva</a:t>
            </a:r>
            <a:r>
              <a:rPr lang="en-US" sz="21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/>
          </a:p>
        </p:txBody>
      </p:sp>
      <p:sp>
        <p:nvSpPr>
          <p:cNvPr id="89" name="Google Shape;89;p2"/>
          <p:cNvSpPr/>
          <p:nvPr/>
        </p:nvSpPr>
        <p:spPr>
          <a:xfrm>
            <a:off x="637475" y="938775"/>
            <a:ext cx="4846200" cy="105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Problema de negocio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●"/>
            </a:pPr>
            <a:r>
              <a:rPr lang="en-US" sz="1800">
                <a:solidFill>
                  <a:srgbClr val="262626"/>
                </a:solidFill>
              </a:rPr>
              <a:t>Identificar situaciones con mayor riesgo de lesiones graves o mortales</a:t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6450958" y="1122215"/>
            <a:ext cx="5303400" cy="6858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952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62626"/>
                </a:solidFill>
              </a:rPr>
              <a:t>Pregunta guía: ¿qué información disponible permite anticipar mayor severidad?</a:t>
            </a:r>
            <a:endParaRPr b="1" sz="1500"/>
          </a:p>
        </p:txBody>
      </p:sp>
      <p:sp>
        <p:nvSpPr>
          <p:cNvPr id="91" name="Google Shape;91;p2"/>
          <p:cNvSpPr/>
          <p:nvPr/>
        </p:nvSpPr>
        <p:spPr>
          <a:xfrm>
            <a:off x="5797725" y="1350830"/>
            <a:ext cx="4116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2" title="ChatGPT Image 14 jun 2026, 20_42_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75" y="2506725"/>
            <a:ext cx="5524239" cy="368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2056450" y="1195113"/>
            <a:ext cx="8322000" cy="144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411480" y="137160"/>
            <a:ext cx="950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Solo el 4,96 % de los casos son críticos</a:t>
            </a:r>
            <a:endParaRPr/>
          </a:p>
        </p:txBody>
      </p:sp>
      <p:pic>
        <p:nvPicPr>
          <p:cNvPr descr="Logos-3-png_Logo-secundario-1-1024x496.png"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0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411469" y="6473950"/>
            <a:ext cx="1163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5C5C5C"/>
                </a:solidFill>
              </a:rPr>
              <a:t>Fortunesky Iván - Scarafilo Germán - UNICABA · Trabajo Final · Programación Avanzada en Ciencia de Datos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5C5C"/>
              </a:solidFill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605568" y="1371250"/>
            <a:ext cx="2286000" cy="10059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9525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62.076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Registros analizados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074447" y="1371250"/>
            <a:ext cx="2286000" cy="10059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9525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4,96%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Graves o mortales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7543328" y="1372182"/>
            <a:ext cx="2286000" cy="10059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9525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Variables usadas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2056450" y="2876238"/>
            <a:ext cx="8322000" cy="256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Data Understanding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Fuente oficial: </a:t>
            </a:r>
            <a:r>
              <a:rPr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Buenos Aires Data.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Uso del diccionario de datos para interpretar categorías.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262626"/>
                </a:solidFill>
              </a:rPr>
              <a:t>“</a:t>
            </a:r>
            <a:r>
              <a:rPr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SD</a:t>
            </a:r>
            <a:r>
              <a:rPr lang="en-US" sz="1600">
                <a:solidFill>
                  <a:srgbClr val="262626"/>
                </a:solidFill>
              </a:rPr>
              <a:t>”</a:t>
            </a:r>
            <a:r>
              <a:rPr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se trató como Sin Datos y no como categoría sustantiva.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rgbClr val="262626"/>
                </a:solidFill>
              </a:rPr>
              <a:t>“</a:t>
            </a:r>
            <a:r>
              <a:rPr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gravedad_victima</a:t>
            </a:r>
            <a:r>
              <a:rPr lang="en-US" sz="1600">
                <a:solidFill>
                  <a:srgbClr val="262626"/>
                </a:solidFill>
              </a:rPr>
              <a:t>”</a:t>
            </a:r>
            <a:r>
              <a:rPr lang="en-US" sz="1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se abordó como variable ordinal: LEVE &lt; GRAVE &lt; MORTAL.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b99339c81_0_400"/>
          <p:cNvSpPr/>
          <p:nvPr/>
        </p:nvSpPr>
        <p:spPr>
          <a:xfrm>
            <a:off x="1680025" y="1342693"/>
            <a:ext cx="2980500" cy="4258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b99339c81_0_400"/>
          <p:cNvSpPr/>
          <p:nvPr/>
        </p:nvSpPr>
        <p:spPr>
          <a:xfrm>
            <a:off x="0" y="0"/>
            <a:ext cx="12191700" cy="6402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b99339c81_0_400"/>
          <p:cNvSpPr txBox="1"/>
          <p:nvPr/>
        </p:nvSpPr>
        <p:spPr>
          <a:xfrm>
            <a:off x="411480" y="137160"/>
            <a:ext cx="950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El dataset fue enriquecido para mejorar su valor analítico</a:t>
            </a:r>
            <a:endParaRPr/>
          </a:p>
        </p:txBody>
      </p:sp>
      <p:pic>
        <p:nvPicPr>
          <p:cNvPr descr="Logos-3-png_Logo-secundario-1-1024x496.png" id="113" name="Google Shape;113;g3eb99339c81_0_4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1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eb99339c81_0_400"/>
          <p:cNvSpPr txBox="1"/>
          <p:nvPr/>
        </p:nvSpPr>
        <p:spPr>
          <a:xfrm>
            <a:off x="411470" y="6473950"/>
            <a:ext cx="1138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5C5C5C"/>
                </a:solidFill>
              </a:rPr>
              <a:t>Fortunesky Iván - Scarafilo Germán - UNICABA · Trabajo Final · Programación Avanzada en Ciencia de Datos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5C5C"/>
              </a:solidFill>
            </a:endParaRPr>
          </a:p>
        </p:txBody>
      </p:sp>
      <p:grpSp>
        <p:nvGrpSpPr>
          <p:cNvPr id="115" name="Google Shape;115;g3eb99339c81_0_400"/>
          <p:cNvGrpSpPr/>
          <p:nvPr/>
        </p:nvGrpSpPr>
        <p:grpSpPr>
          <a:xfrm>
            <a:off x="2004470" y="1518824"/>
            <a:ext cx="2331600" cy="3729992"/>
            <a:chOff x="9464145" y="1229758"/>
            <a:chExt cx="2331600" cy="3729992"/>
          </a:xfrm>
        </p:grpSpPr>
        <p:sp>
          <p:nvSpPr>
            <p:cNvPr id="116" name="Google Shape;116;g3eb99339c81_0_400"/>
            <p:cNvSpPr/>
            <p:nvPr/>
          </p:nvSpPr>
          <p:spPr>
            <a:xfrm>
              <a:off x="9464145" y="1229758"/>
              <a:ext cx="2331600" cy="868800"/>
            </a:xfrm>
            <a:prstGeom prst="roundRect">
              <a:avLst>
                <a:gd fmla="val 16667" name="adj"/>
              </a:avLst>
            </a:prstGeom>
            <a:solidFill>
              <a:srgbClr val="E8EFFA"/>
            </a:solidFill>
            <a:ln cap="flat" cmpd="sng" w="9525">
              <a:solidFill>
                <a:srgbClr val="7A2D8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522263"/>
                  </a:solidFill>
                  <a:latin typeface="Play"/>
                  <a:ea typeface="Play"/>
                  <a:cs typeface="Play"/>
                  <a:sym typeface="Play"/>
                </a:rPr>
                <a:t>Dataset Original</a:t>
              </a:r>
              <a:endParaRPr/>
            </a:p>
          </p:txBody>
        </p:sp>
        <p:sp>
          <p:nvSpPr>
            <p:cNvPr id="117" name="Google Shape;117;g3eb99339c81_0_400"/>
            <p:cNvSpPr/>
            <p:nvPr/>
          </p:nvSpPr>
          <p:spPr>
            <a:xfrm>
              <a:off x="9578445" y="2258500"/>
              <a:ext cx="2103000" cy="4572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9525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</a:rPr>
                <a:t>edad_victima</a:t>
              </a:r>
              <a:endParaRPr/>
            </a:p>
          </p:txBody>
        </p:sp>
        <p:sp>
          <p:nvSpPr>
            <p:cNvPr id="118" name="Google Shape;118;g3eb99339c81_0_400"/>
            <p:cNvSpPr/>
            <p:nvPr/>
          </p:nvSpPr>
          <p:spPr>
            <a:xfrm>
              <a:off x="9578445" y="2803100"/>
              <a:ext cx="2103000" cy="4572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9525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</a:rPr>
                <a:t>gravedad_victima</a:t>
              </a:r>
              <a:endParaRPr/>
            </a:p>
          </p:txBody>
        </p:sp>
        <p:sp>
          <p:nvSpPr>
            <p:cNvPr id="119" name="Google Shape;119;g3eb99339c81_0_400"/>
            <p:cNvSpPr/>
            <p:nvPr/>
          </p:nvSpPr>
          <p:spPr>
            <a:xfrm>
              <a:off x="9578445" y="3347700"/>
              <a:ext cx="2103000" cy="4572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9525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</a:rPr>
                <a:t>rol_victima</a:t>
              </a:r>
              <a:endParaRPr/>
            </a:p>
          </p:txBody>
        </p:sp>
        <p:sp>
          <p:nvSpPr>
            <p:cNvPr id="120" name="Google Shape;120;g3eb99339c81_0_400"/>
            <p:cNvSpPr/>
            <p:nvPr/>
          </p:nvSpPr>
          <p:spPr>
            <a:xfrm>
              <a:off x="9578445" y="3925125"/>
              <a:ext cx="2103000" cy="4572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9525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</a:rPr>
                <a:t>comuna</a:t>
              </a:r>
              <a:endParaRPr/>
            </a:p>
          </p:txBody>
        </p:sp>
        <p:sp>
          <p:nvSpPr>
            <p:cNvPr id="121" name="Google Shape;121;g3eb99339c81_0_400"/>
            <p:cNvSpPr/>
            <p:nvPr/>
          </p:nvSpPr>
          <p:spPr>
            <a:xfrm>
              <a:off x="9578445" y="4502550"/>
              <a:ext cx="2103000" cy="4572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9525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</a:rPr>
                <a:t>fecha</a:t>
              </a:r>
              <a:endParaRPr/>
            </a:p>
          </p:txBody>
        </p:sp>
      </p:grpSp>
      <p:sp>
        <p:nvSpPr>
          <p:cNvPr id="122" name="Google Shape;122;g3eb99339c81_0_400"/>
          <p:cNvSpPr/>
          <p:nvPr/>
        </p:nvSpPr>
        <p:spPr>
          <a:xfrm>
            <a:off x="7518975" y="1271425"/>
            <a:ext cx="2980500" cy="4395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g3eb99339c81_0_400"/>
          <p:cNvGrpSpPr/>
          <p:nvPr/>
        </p:nvGrpSpPr>
        <p:grpSpPr>
          <a:xfrm>
            <a:off x="7713905" y="1447547"/>
            <a:ext cx="2590641" cy="3546949"/>
            <a:chOff x="9464145" y="1229758"/>
            <a:chExt cx="2331600" cy="3546949"/>
          </a:xfrm>
        </p:grpSpPr>
        <p:sp>
          <p:nvSpPr>
            <p:cNvPr id="124" name="Google Shape;124;g3eb99339c81_0_400"/>
            <p:cNvSpPr/>
            <p:nvPr/>
          </p:nvSpPr>
          <p:spPr>
            <a:xfrm>
              <a:off x="9464145" y="1229758"/>
              <a:ext cx="2331600" cy="868800"/>
            </a:xfrm>
            <a:prstGeom prst="roundRect">
              <a:avLst>
                <a:gd fmla="val 16667" name="adj"/>
              </a:avLst>
            </a:prstGeom>
            <a:solidFill>
              <a:srgbClr val="E8EFFA"/>
            </a:solidFill>
            <a:ln cap="flat" cmpd="sng" w="9525">
              <a:solidFill>
                <a:srgbClr val="7A2D8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522263"/>
                  </a:solidFill>
                  <a:latin typeface="Play"/>
                  <a:ea typeface="Play"/>
                  <a:cs typeface="Play"/>
                  <a:sym typeface="Play"/>
                </a:rPr>
                <a:t>Variables derivadas</a:t>
              </a:r>
              <a:endParaRPr/>
            </a:p>
          </p:txBody>
        </p:sp>
        <p:sp>
          <p:nvSpPr>
            <p:cNvPr id="125" name="Google Shape;125;g3eb99339c81_0_400"/>
            <p:cNvSpPr/>
            <p:nvPr/>
          </p:nvSpPr>
          <p:spPr>
            <a:xfrm>
              <a:off x="9578445" y="2258500"/>
              <a:ext cx="2103000" cy="4572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9525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</a:rPr>
                <a:t>grupo_etario</a:t>
              </a:r>
              <a:endParaRPr/>
            </a:p>
          </p:txBody>
        </p:sp>
        <p:sp>
          <p:nvSpPr>
            <p:cNvPr id="126" name="Google Shape;126;g3eb99339c81_0_400"/>
            <p:cNvSpPr/>
            <p:nvPr/>
          </p:nvSpPr>
          <p:spPr>
            <a:xfrm>
              <a:off x="9578445" y="2770275"/>
              <a:ext cx="2103000" cy="4572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9525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</a:rPr>
                <a:t>es_grave_mortal</a:t>
              </a:r>
              <a:endParaRPr/>
            </a:p>
          </p:txBody>
        </p:sp>
        <p:sp>
          <p:nvSpPr>
            <p:cNvPr id="127" name="Google Shape;127;g3eb99339c81_0_400"/>
            <p:cNvSpPr/>
            <p:nvPr/>
          </p:nvSpPr>
          <p:spPr>
            <a:xfrm>
              <a:off x="9578445" y="3286686"/>
              <a:ext cx="2103000" cy="4572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9525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</a:rPr>
                <a:t>vulnerabilidad_usuario</a:t>
              </a:r>
              <a:endParaRPr/>
            </a:p>
          </p:txBody>
        </p:sp>
        <p:sp>
          <p:nvSpPr>
            <p:cNvPr id="128" name="Google Shape;128;g3eb99339c81_0_400"/>
            <p:cNvSpPr/>
            <p:nvPr/>
          </p:nvSpPr>
          <p:spPr>
            <a:xfrm>
              <a:off x="9578445" y="3803097"/>
              <a:ext cx="2103000" cy="4572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9525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</a:rPr>
                <a:t>anio</a:t>
              </a:r>
              <a:endParaRPr/>
            </a:p>
          </p:txBody>
        </p:sp>
        <p:sp>
          <p:nvSpPr>
            <p:cNvPr id="129" name="Google Shape;129;g3eb99339c81_0_400"/>
            <p:cNvSpPr/>
            <p:nvPr/>
          </p:nvSpPr>
          <p:spPr>
            <a:xfrm>
              <a:off x="9578445" y="4319507"/>
              <a:ext cx="2103000" cy="4572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9525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62626"/>
                  </a:solidFill>
                </a:rPr>
                <a:t>mes</a:t>
              </a:r>
              <a:endParaRPr/>
            </a:p>
          </p:txBody>
        </p:sp>
      </p:grpSp>
      <p:sp>
        <p:nvSpPr>
          <p:cNvPr id="130" name="Google Shape;130;g3eb99339c81_0_400"/>
          <p:cNvSpPr/>
          <p:nvPr/>
        </p:nvSpPr>
        <p:spPr>
          <a:xfrm>
            <a:off x="7840866" y="5055766"/>
            <a:ext cx="2336700" cy="4572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952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62626"/>
                </a:solidFill>
              </a:rPr>
              <a:t>dia_semana</a:t>
            </a:r>
            <a:endParaRPr/>
          </a:p>
        </p:txBody>
      </p:sp>
      <p:pic>
        <p:nvPicPr>
          <p:cNvPr id="131" name="Google Shape;131;g3eb99339c81_0_400" title="sd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925" y="2338475"/>
            <a:ext cx="2533650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411480" y="13716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Persistencia, trazabilidad y automatización</a:t>
            </a:r>
            <a:endParaRPr/>
          </a:p>
        </p:txBody>
      </p:sp>
      <p:pic>
        <p:nvPicPr>
          <p:cNvPr descr="Logos-3-png_Logo-secundario-1-1024x496.png"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0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"/>
          <p:cNvSpPr txBox="1"/>
          <p:nvPr/>
        </p:nvSpPr>
        <p:spPr>
          <a:xfrm>
            <a:off x="276812" y="6473950"/>
            <a:ext cx="1164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5C5C5C"/>
                </a:solidFill>
              </a:rPr>
              <a:t>Fortunesky Iván - Scarafilo Germán - UNICABA · Trabajo Final · Programación Avanzada en Ciencia de Datos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5C5C"/>
              </a:solidFill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99513" y="999112"/>
            <a:ext cx="5486400" cy="1867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DataOps aplicado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262626"/>
                </a:solidFill>
              </a:rPr>
              <a:t>Firestore almacena metadata, métricas, configuración, predicciones y logs.</a:t>
            </a:r>
            <a:endParaRPr sz="1700">
              <a:solidFill>
                <a:srgbClr val="262626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Logging registra eventos del pipeline y errores.</a:t>
            </a:r>
            <a:endParaRPr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Papermill ejecuta los notebooks de punta a punta con un único comando.</a:t>
            </a:r>
            <a:endParaRPr/>
          </a:p>
        </p:txBody>
      </p:sp>
      <p:pic>
        <p:nvPicPr>
          <p:cNvPr id="141" name="Google Shape;14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250" y="3225650"/>
            <a:ext cx="6476926" cy="3122824"/>
          </a:xfrm>
          <a:prstGeom prst="rect">
            <a:avLst/>
          </a:prstGeom>
          <a:noFill/>
          <a:ln cap="flat" cmpd="sng" w="101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2510" rotWithShape="0" dir="5400000" dist="24443">
              <a:srgbClr val="000000">
                <a:alpha val="34900"/>
              </a:srgbClr>
            </a:outerShdw>
          </a:effectLst>
        </p:spPr>
      </p:pic>
      <p:pic>
        <p:nvPicPr>
          <p:cNvPr id="142" name="Google Shape;14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525" y="5387064"/>
            <a:ext cx="502038" cy="502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9"/>
          <p:cNvGrpSpPr/>
          <p:nvPr/>
        </p:nvGrpSpPr>
        <p:grpSpPr>
          <a:xfrm>
            <a:off x="7635426" y="756205"/>
            <a:ext cx="3077100" cy="2965051"/>
            <a:chOff x="6469678" y="1089975"/>
            <a:chExt cx="4798222" cy="4623500"/>
          </a:xfrm>
        </p:grpSpPr>
        <p:sp>
          <p:nvSpPr>
            <p:cNvPr id="144" name="Google Shape;144;p9"/>
            <p:cNvSpPr/>
            <p:nvPr/>
          </p:nvSpPr>
          <p:spPr>
            <a:xfrm>
              <a:off x="6592700" y="1148675"/>
              <a:ext cx="4675200" cy="4564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6100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651" rotWithShape="0" dir="5400000" dist="14749">
                <a:srgbClr val="000000">
                  <a:alpha val="34900"/>
                </a:srgbClr>
              </a:outerShdw>
            </a:effectLst>
          </p:spPr>
          <p:txBody>
            <a:bodyPr anchorCtr="0" anchor="ctr" bIns="29325" lIns="58650" spcFirstLastPara="1" rIns="58650" wrap="square" tIns="293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98"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6980503" y="1872495"/>
              <a:ext cx="2194500" cy="914400"/>
            </a:xfrm>
            <a:prstGeom prst="roundRect">
              <a:avLst>
                <a:gd fmla="val 16667" name="adj"/>
              </a:avLst>
            </a:prstGeom>
            <a:solidFill>
              <a:srgbClr val="EEE1F2"/>
            </a:solidFill>
            <a:ln cap="flat" cmpd="sng" w="6100">
              <a:solidFill>
                <a:srgbClr val="7A2D8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651" rotWithShape="0" dir="5400000" dist="14749">
                <a:srgbClr val="000000">
                  <a:alpha val="34901"/>
                </a:srgbClr>
              </a:outerShdw>
            </a:effectLst>
          </p:spPr>
          <p:txBody>
            <a:bodyPr anchorCtr="0" anchor="ctr" bIns="29325" lIns="58650" spcFirstLastPara="1" rIns="58650" wrap="square" tIns="29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9">
                  <a:solidFill>
                    <a:srgbClr val="522263"/>
                  </a:solidFill>
                  <a:latin typeface="Play"/>
                  <a:ea typeface="Play"/>
                  <a:cs typeface="Play"/>
                  <a:sym typeface="Play"/>
                </a:rPr>
                <a:t>9/9 PASS</a:t>
              </a:r>
              <a:endParaRPr sz="898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Notebooks auditados</a:t>
              </a:r>
              <a:endParaRPr sz="898"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9248178" y="1874520"/>
              <a:ext cx="1645800" cy="914400"/>
            </a:xfrm>
            <a:prstGeom prst="roundRect">
              <a:avLst>
                <a:gd fmla="val 16667" name="adj"/>
              </a:avLst>
            </a:prstGeom>
            <a:solidFill>
              <a:srgbClr val="EEE1F2"/>
            </a:solidFill>
            <a:ln cap="flat" cmpd="sng" w="6100">
              <a:solidFill>
                <a:srgbClr val="7A2D8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651" rotWithShape="0" dir="5400000" dist="14749">
                <a:srgbClr val="000000">
                  <a:alpha val="34901"/>
                </a:srgbClr>
              </a:outerShdw>
            </a:effectLst>
          </p:spPr>
          <p:txBody>
            <a:bodyPr anchorCtr="0" anchor="ctr" bIns="29325" lIns="58650" spcFirstLastPara="1" rIns="58650" wrap="square" tIns="29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39">
                  <a:solidFill>
                    <a:srgbClr val="522263"/>
                  </a:solidFill>
                  <a:latin typeface="Play"/>
                  <a:ea typeface="Play"/>
                  <a:cs typeface="Play"/>
                  <a:sym typeface="Play"/>
                </a:rPr>
                <a:t>OK</a:t>
              </a:r>
              <a:endParaRPr sz="898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1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Pipeline</a:t>
              </a:r>
              <a:endParaRPr sz="898"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6688675" y="2926053"/>
              <a:ext cx="4480500" cy="13527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6100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651" rotWithShape="0" dir="5400000" dist="14749">
                <a:srgbClr val="000000">
                  <a:alpha val="34901"/>
                </a:srgbClr>
              </a:outerShdw>
            </a:effectLst>
          </p:spPr>
          <p:txBody>
            <a:bodyPr anchorCtr="0" anchor="ctr" bIns="29325" lIns="58650" spcFirstLastPara="1" rIns="58650" wrap="square" tIns="29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26">
                  <a:solidFill>
                    <a:srgbClr val="262626"/>
                  </a:solidFill>
                </a:rPr>
                <a:t>Pipeline reproducible en un </a:t>
              </a:r>
              <a:r>
                <a:rPr b="1" lang="en-US" sz="1026">
                  <a:solidFill>
                    <a:srgbClr val="262626"/>
                  </a:solidFill>
                </a:rPr>
                <a:t>único</a:t>
              </a:r>
              <a:r>
                <a:rPr b="1" lang="en-US" sz="1026">
                  <a:solidFill>
                    <a:srgbClr val="262626"/>
                  </a:solidFill>
                </a:rPr>
                <a:t> comando</a:t>
              </a:r>
              <a:endParaRPr b="1" sz="1026">
                <a:solidFill>
                  <a:srgbClr val="262626"/>
                </a:solidFill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26">
                <a:solidFill>
                  <a:srgbClr val="262626"/>
                </a:solidFill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05"/>
                <a:buFont typeface="Arial"/>
                <a:buNone/>
              </a:pPr>
              <a:r>
                <a:rPr b="1" lang="en-US" sz="1218">
                  <a:solidFill>
                    <a:srgbClr val="262626"/>
                  </a:solidFill>
                </a:rPr>
                <a:t>python scripts/run_pipeline.py</a:t>
              </a:r>
              <a:endParaRPr b="1" sz="1218">
                <a:solidFill>
                  <a:srgbClr val="262626"/>
                </a:solidFill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18">
                <a:solidFill>
                  <a:srgbClr val="262626"/>
                </a:solidFill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6690053" y="4422945"/>
              <a:ext cx="4480500" cy="822900"/>
            </a:xfrm>
            <a:prstGeom prst="roundRect">
              <a:avLst>
                <a:gd fmla="val 16667" name="adj"/>
              </a:avLst>
            </a:prstGeom>
            <a:solidFill>
              <a:srgbClr val="F7F3F9"/>
            </a:solidFill>
            <a:ln cap="flat" cmpd="sng" w="6100">
              <a:solidFill>
                <a:srgbClr val="D2BED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5651" rotWithShape="0" dir="5400000" dist="14749">
                <a:srgbClr val="000000">
                  <a:alpha val="34901"/>
                </a:srgbClr>
              </a:outerShdw>
            </a:effectLst>
          </p:spPr>
          <p:txBody>
            <a:bodyPr anchorCtr="0" anchor="ctr" bIns="29325" lIns="58650" spcFirstLastPara="1" rIns="58650" wrap="square" tIns="29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2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Resultado: artefactos generados, Firestore actualizado y dashboard exportado.</a:t>
              </a:r>
              <a:endParaRPr sz="898"/>
            </a:p>
          </p:txBody>
        </p:sp>
        <p:pic>
          <p:nvPicPr>
            <p:cNvPr id="149" name="Google Shape;149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469678" y="1089975"/>
              <a:ext cx="686500" cy="5560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0" name="Google Shape;150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63142" y="5248009"/>
            <a:ext cx="502038" cy="492788"/>
          </a:xfrm>
          <a:prstGeom prst="rect">
            <a:avLst/>
          </a:prstGeom>
          <a:noFill/>
          <a:ln cap="flat" cmpd="sng" w="101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2510" rotWithShape="0" dir="5400000" dist="24443">
              <a:srgbClr val="000000">
                <a:alpha val="34900"/>
              </a:srgbClr>
            </a:outerShdw>
          </a:effectLst>
        </p:spPr>
      </p:pic>
      <p:sp>
        <p:nvSpPr>
          <p:cNvPr id="151" name="Google Shape;151;p9"/>
          <p:cNvSpPr/>
          <p:nvPr/>
        </p:nvSpPr>
        <p:spPr>
          <a:xfrm>
            <a:off x="6921425" y="3855750"/>
            <a:ext cx="4809600" cy="2483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4100">
            <a:solidFill>
              <a:srgbClr val="5C5C5C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1966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2"/>
          </a:p>
        </p:txBody>
      </p:sp>
      <p:sp>
        <p:nvSpPr>
          <p:cNvPr id="152" name="Google Shape;152;p9"/>
          <p:cNvSpPr/>
          <p:nvPr/>
        </p:nvSpPr>
        <p:spPr>
          <a:xfrm>
            <a:off x="6996004" y="4635127"/>
            <a:ext cx="1002900" cy="3738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4100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19663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1. EDA</a:t>
            </a:r>
            <a:endParaRPr sz="602"/>
          </a:p>
        </p:txBody>
      </p:sp>
      <p:sp>
        <p:nvSpPr>
          <p:cNvPr id="153" name="Google Shape;153;p9"/>
          <p:cNvSpPr/>
          <p:nvPr/>
        </p:nvSpPr>
        <p:spPr>
          <a:xfrm>
            <a:off x="7998876" y="4772776"/>
            <a:ext cx="177000" cy="9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151"/>
          </a:solidFill>
          <a:ln cap="flat" cmpd="sng" w="41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8234846" y="4635127"/>
            <a:ext cx="1002900" cy="3738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4100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2. Preprocessing</a:t>
            </a:r>
            <a:endParaRPr sz="602"/>
          </a:p>
        </p:txBody>
      </p:sp>
      <p:sp>
        <p:nvSpPr>
          <p:cNvPr id="155" name="Google Shape;155;p9"/>
          <p:cNvSpPr/>
          <p:nvPr/>
        </p:nvSpPr>
        <p:spPr>
          <a:xfrm>
            <a:off x="9237719" y="4772776"/>
            <a:ext cx="177000" cy="9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151"/>
          </a:solidFill>
          <a:ln cap="flat" cmpd="sng" w="41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9473689" y="4635127"/>
            <a:ext cx="1002900" cy="3738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4100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3. Feature</a:t>
            </a:r>
            <a:b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Engineering</a:t>
            </a:r>
            <a:endParaRPr sz="602"/>
          </a:p>
        </p:txBody>
      </p:sp>
      <p:sp>
        <p:nvSpPr>
          <p:cNvPr id="157" name="Google Shape;157;p9"/>
          <p:cNvSpPr/>
          <p:nvPr/>
        </p:nvSpPr>
        <p:spPr>
          <a:xfrm>
            <a:off x="10476562" y="4772776"/>
            <a:ext cx="177000" cy="9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151"/>
          </a:solidFill>
          <a:ln cap="flat" cmpd="sng" w="41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10712532" y="4635127"/>
            <a:ext cx="1002900" cy="3738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4100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4. Modelado</a:t>
            </a:r>
            <a:endParaRPr sz="602"/>
          </a:p>
        </p:txBody>
      </p:sp>
      <p:sp>
        <p:nvSpPr>
          <p:cNvPr id="159" name="Google Shape;159;p9"/>
          <p:cNvSpPr/>
          <p:nvPr/>
        </p:nvSpPr>
        <p:spPr>
          <a:xfrm>
            <a:off x="10712532" y="5238769"/>
            <a:ext cx="1002900" cy="3738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4100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5. Entrenamiento</a:t>
            </a:r>
            <a:endParaRPr sz="602"/>
          </a:p>
        </p:txBody>
      </p:sp>
      <p:sp>
        <p:nvSpPr>
          <p:cNvPr id="160" name="Google Shape;160;p9"/>
          <p:cNvSpPr/>
          <p:nvPr/>
        </p:nvSpPr>
        <p:spPr>
          <a:xfrm rot="10800000">
            <a:off x="8057846" y="5376339"/>
            <a:ext cx="177000" cy="9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151"/>
          </a:solidFill>
          <a:ln cap="flat" cmpd="sng" w="41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9473689" y="5250663"/>
            <a:ext cx="1002900" cy="37380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 cap="flat" cmpd="sng" w="4100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6. Comparación modelos</a:t>
            </a:r>
            <a:endParaRPr sz="602"/>
          </a:p>
        </p:txBody>
      </p:sp>
      <p:sp>
        <p:nvSpPr>
          <p:cNvPr id="162" name="Google Shape;162;p9"/>
          <p:cNvSpPr/>
          <p:nvPr/>
        </p:nvSpPr>
        <p:spPr>
          <a:xfrm rot="10800000">
            <a:off x="9292107" y="5376339"/>
            <a:ext cx="177000" cy="9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151"/>
          </a:solidFill>
          <a:ln cap="flat" cmpd="sng" w="41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234846" y="5238769"/>
            <a:ext cx="1002900" cy="37380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 cap="flat" cmpd="sng" w="4100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7. Cross validation</a:t>
            </a:r>
            <a:endParaRPr sz="602"/>
          </a:p>
        </p:txBody>
      </p:sp>
      <p:sp>
        <p:nvSpPr>
          <p:cNvPr id="164" name="Google Shape;164;p9"/>
          <p:cNvSpPr/>
          <p:nvPr/>
        </p:nvSpPr>
        <p:spPr>
          <a:xfrm rot="10800000">
            <a:off x="10535532" y="5376339"/>
            <a:ext cx="177000" cy="9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151"/>
          </a:solidFill>
          <a:ln cap="flat" cmpd="sng" w="41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996004" y="5238769"/>
            <a:ext cx="1002900" cy="37380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 cap="flat" cmpd="sng" w="4100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8. Firebase</a:t>
            </a:r>
            <a:endParaRPr sz="602"/>
          </a:p>
        </p:txBody>
      </p:sp>
      <p:sp>
        <p:nvSpPr>
          <p:cNvPr id="166" name="Google Shape;166;p9"/>
          <p:cNvSpPr/>
          <p:nvPr/>
        </p:nvSpPr>
        <p:spPr>
          <a:xfrm rot="5400000">
            <a:off x="11125429" y="5048046"/>
            <a:ext cx="177000" cy="9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151"/>
          </a:solidFill>
          <a:ln cap="flat" cmpd="sng" w="41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7146675" y="4178167"/>
            <a:ext cx="4418100" cy="37380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 cap="flat" cmpd="sng" w="4100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Papermill</a:t>
            </a:r>
            <a:endParaRPr sz="1702"/>
          </a:p>
        </p:txBody>
      </p:sp>
      <p:sp>
        <p:nvSpPr>
          <p:cNvPr id="168" name="Google Shape;168;p9"/>
          <p:cNvSpPr/>
          <p:nvPr/>
        </p:nvSpPr>
        <p:spPr>
          <a:xfrm>
            <a:off x="6995991" y="5842419"/>
            <a:ext cx="1002900" cy="37380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 cap="flat" cmpd="sng" w="4100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1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9. Dashboard y storytelling</a:t>
            </a:r>
            <a:endParaRPr sz="602"/>
          </a:p>
        </p:txBody>
      </p:sp>
      <p:sp>
        <p:nvSpPr>
          <p:cNvPr id="169" name="Google Shape;169;p9"/>
          <p:cNvSpPr/>
          <p:nvPr/>
        </p:nvSpPr>
        <p:spPr>
          <a:xfrm rot="5400000">
            <a:off x="7408954" y="5663771"/>
            <a:ext cx="177000" cy="9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151"/>
          </a:solidFill>
          <a:ln cap="flat" cmpd="sng" w="41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17204" rotWithShape="0" dir="5400000" dist="9892">
              <a:srgbClr val="000000">
                <a:alpha val="34900"/>
              </a:srgbClr>
            </a:outerShdw>
          </a:effectLst>
        </p:spPr>
        <p:txBody>
          <a:bodyPr anchorCtr="0" anchor="ctr" bIns="19650" lIns="39325" spcFirstLastPara="1" rIns="39325" wrap="square" tIns="19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411480" y="137160"/>
            <a:ext cx="950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Hallazgo principal: dataset sumamente desbalanceado</a:t>
            </a:r>
            <a:endParaRPr/>
          </a:p>
        </p:txBody>
      </p:sp>
      <p:pic>
        <p:nvPicPr>
          <p:cNvPr descr="Logos-3-png_Logo-secundario-1-1024x496.png" id="176" name="Google Shape;1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0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 txBox="1"/>
          <p:nvPr/>
        </p:nvSpPr>
        <p:spPr>
          <a:xfrm>
            <a:off x="411469" y="6473950"/>
            <a:ext cx="1154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5C5C5C"/>
                </a:solidFill>
              </a:rPr>
              <a:t>Fortunesky Iván - Scarafilo Germán - UNICABA · Trabajo Final · Programación Avanzada en Ciencia de Datos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5C5C"/>
              </a:solidFill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654600" y="1188675"/>
            <a:ext cx="5299800" cy="283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Interpretación</a:t>
            </a:r>
            <a:endParaRPr b="1" sz="3200">
              <a:solidFill>
                <a:srgbClr val="522263"/>
              </a:solidFill>
              <a:latin typeface="Play"/>
              <a:ea typeface="Play"/>
              <a:cs typeface="Play"/>
              <a:sym typeface="Play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 clase LEVE concentra la enorme mayoría de registros.</a:t>
            </a:r>
            <a:endParaRPr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Los casos GRAVE y MORTAL son pocos, pero son los de mayor impacto.</a:t>
            </a:r>
            <a:endParaRPr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Accuracy puede ser engañosa en este contexto.</a:t>
            </a:r>
            <a:endParaRPr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Arial"/>
              <a:buChar char="●"/>
            </a:pPr>
            <a:r>
              <a:rPr lang="en-US" sz="17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 priorizaron Recall y F1 Score.</a:t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7155668" y="4360950"/>
            <a:ext cx="2286000" cy="9144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9525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≈95% LEVE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Clase mayoritaria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9624548" y="4360950"/>
            <a:ext cx="1828800" cy="9144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9525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≈5%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Clase positiva</a:t>
            </a:r>
            <a:endParaRPr/>
          </a:p>
        </p:txBody>
      </p:sp>
      <p:pic>
        <p:nvPicPr>
          <p:cNvPr id="181" name="Google Shape;18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950" y="1524937"/>
            <a:ext cx="5722854" cy="2435738"/>
          </a:xfrm>
          <a:prstGeom prst="rect">
            <a:avLst/>
          </a:prstGeom>
          <a:noFill/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182" name="Google Shape;182;p5"/>
          <p:cNvSpPr/>
          <p:nvPr/>
        </p:nvSpPr>
        <p:spPr>
          <a:xfrm>
            <a:off x="1578177" y="4445002"/>
            <a:ext cx="31530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</a:rPr>
              <a:t>Accuracy sola NO alcanza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578177" y="5405527"/>
            <a:ext cx="3153000" cy="457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8761D"/>
                </a:solidFill>
              </a:rPr>
              <a:t>class Weight = Balanced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84" name="Google Shape;184;p5"/>
          <p:cNvSpPr/>
          <p:nvPr/>
        </p:nvSpPr>
        <p:spPr>
          <a:xfrm rot="5400000">
            <a:off x="2948885" y="5028460"/>
            <a:ext cx="4116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411480" y="13716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Hipótesis y target predictivo</a:t>
            </a:r>
            <a:endParaRPr/>
          </a:p>
        </p:txBody>
      </p:sp>
      <p:pic>
        <p:nvPicPr>
          <p:cNvPr descr="Logos-3-png_Logo-secundario-1-1024x496.png" id="191" name="Google Shape;1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0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 txBox="1"/>
          <p:nvPr/>
        </p:nvSpPr>
        <p:spPr>
          <a:xfrm>
            <a:off x="411469" y="6473950"/>
            <a:ext cx="1159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5C5C5C"/>
                </a:solidFill>
              </a:rPr>
              <a:t>Fortunesky Iván - Scarafilo Germán - UNICABA · Trabajo Final · Programación Avanzada en Ciencia de Datos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5C5C"/>
              </a:solidFill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015050" y="891550"/>
            <a:ext cx="4161600" cy="6402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952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2626"/>
                </a:solidFill>
              </a:rPr>
              <a:t>Hipótesis</a:t>
            </a:r>
            <a:endParaRPr b="1" sz="2100"/>
          </a:p>
        </p:txBody>
      </p:sp>
      <p:sp>
        <p:nvSpPr>
          <p:cNvPr id="194" name="Google Shape;194;p6"/>
          <p:cNvSpPr/>
          <p:nvPr/>
        </p:nvSpPr>
        <p:spPr>
          <a:xfrm>
            <a:off x="1179445" y="1730134"/>
            <a:ext cx="9833100" cy="128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Las características de la víctima y del contexto permiten anticipar parcialmente la gravedad del siniestro.</a:t>
            </a:r>
            <a:endParaRPr sz="1700"/>
          </a:p>
        </p:txBody>
      </p:sp>
      <p:sp>
        <p:nvSpPr>
          <p:cNvPr id="195" name="Google Shape;195;p6"/>
          <p:cNvSpPr/>
          <p:nvPr/>
        </p:nvSpPr>
        <p:spPr>
          <a:xfrm>
            <a:off x="3074250" y="3428466"/>
            <a:ext cx="6043500" cy="9144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952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262626"/>
                </a:solidFill>
              </a:rPr>
              <a:t>Transformación del </a:t>
            </a:r>
            <a:r>
              <a:rPr b="1" lang="en-US" sz="2300">
                <a:solidFill>
                  <a:srgbClr val="262626"/>
                </a:solidFill>
              </a:rPr>
              <a:t>target</a:t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1501285" y="4761103"/>
            <a:ext cx="2194500" cy="9144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9525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LEVE → 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Clase negativa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343725" y="4761116"/>
            <a:ext cx="3679500" cy="9144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9525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GRAVE/MORTAL →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Clase positiva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8671185" y="4761116"/>
            <a:ext cx="1828800" cy="914400"/>
          </a:xfrm>
          <a:prstGeom prst="roundRect">
            <a:avLst>
              <a:gd fmla="val 16667" name="adj"/>
            </a:avLst>
          </a:prstGeom>
          <a:solidFill>
            <a:srgbClr val="EEE1F2"/>
          </a:solidFill>
          <a:ln cap="flat" cmpd="sng" w="9525">
            <a:solidFill>
              <a:srgbClr val="7A2D8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6262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00">
                <a:solidFill>
                  <a:srgbClr val="262626"/>
                </a:solidFill>
              </a:rPr>
              <a:t>Clase positiva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≈ 5% </a:t>
            </a:r>
            <a:r>
              <a:rPr lang="en-US" sz="1300">
                <a:solidFill>
                  <a:srgbClr val="262626"/>
                </a:solidFill>
              </a:rPr>
              <a:t>del dataset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956500"/>
            <a:ext cx="45718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0300" y="3565618"/>
            <a:ext cx="640076" cy="64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411480" y="137160"/>
            <a:ext cx="950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 compararon 3 algoritmos de clasificación</a:t>
            </a:r>
            <a:endParaRPr/>
          </a:p>
        </p:txBody>
      </p:sp>
      <p:pic>
        <p:nvPicPr>
          <p:cNvPr descr="Logos-3-png_Logo-secundario-1-1024x496.png" id="207" name="Google Shape;2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0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 txBox="1"/>
          <p:nvPr/>
        </p:nvSpPr>
        <p:spPr>
          <a:xfrm>
            <a:off x="411470" y="6473950"/>
            <a:ext cx="1138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5C5C5C"/>
                </a:solidFill>
              </a:rPr>
              <a:t>Fortunesky Iván - Scarafilo Germán - UNICABA · Trabajo Final · Programación Avanzada en Ciencia de Datos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5C5C"/>
              </a:solidFill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2429475" y="4865250"/>
            <a:ext cx="6784800" cy="9144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952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262626"/>
                </a:solidFill>
              </a:rPr>
              <a:t>Debido al fuerte desbalanceo, se priorizó F1 Score</a:t>
            </a:r>
            <a:endParaRPr sz="1800">
              <a:solidFill>
                <a:srgbClr val="262626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</a:rPr>
              <a:t>y Recall por encima de Accuracy. </a:t>
            </a:r>
            <a:endParaRPr sz="1800">
              <a:solidFill>
                <a:srgbClr val="262626"/>
              </a:solidFill>
            </a:endParaRPr>
          </a:p>
        </p:txBody>
      </p:sp>
      <p:pic>
        <p:nvPicPr>
          <p:cNvPr id="210" name="Google Shape;210;p7"/>
          <p:cNvPicPr preferRelativeResize="0"/>
          <p:nvPr/>
        </p:nvPicPr>
        <p:blipFill rotWithShape="1">
          <a:blip r:embed="rId4">
            <a:alphaModFix/>
          </a:blip>
          <a:srcRect b="0" l="0" r="0" t="2095"/>
          <a:stretch/>
        </p:blipFill>
        <p:spPr>
          <a:xfrm>
            <a:off x="1807625" y="1313775"/>
            <a:ext cx="8249050" cy="3308000"/>
          </a:xfrm>
          <a:prstGeom prst="rect">
            <a:avLst/>
          </a:prstGeom>
          <a:noFill/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b99339c81_0_338"/>
          <p:cNvSpPr/>
          <p:nvPr/>
        </p:nvSpPr>
        <p:spPr>
          <a:xfrm>
            <a:off x="0" y="0"/>
            <a:ext cx="12191700" cy="6402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eb99339c81_0_338"/>
          <p:cNvSpPr txBox="1"/>
          <p:nvPr/>
        </p:nvSpPr>
        <p:spPr>
          <a:xfrm>
            <a:off x="411480" y="137160"/>
            <a:ext cx="950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Random Forest fue el modelo mas equilibrado</a:t>
            </a:r>
            <a:endParaRPr/>
          </a:p>
        </p:txBody>
      </p:sp>
      <p:pic>
        <p:nvPicPr>
          <p:cNvPr descr="Logos-3-png_Logo-secundario-1-1024x496.png" id="217" name="Google Shape;217;g3eb99339c81_0_3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1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eb99339c81_0_338"/>
          <p:cNvSpPr txBox="1"/>
          <p:nvPr/>
        </p:nvSpPr>
        <p:spPr>
          <a:xfrm>
            <a:off x="411470" y="6473950"/>
            <a:ext cx="1147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5C5C5C"/>
                </a:solidFill>
              </a:rPr>
              <a:t>Fortunesky Iván - Scarafilo Germán - UNICABA · Trabajo Final · Programación Avanzada en Ciencia de Datos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5C5C"/>
              </a:solidFill>
            </a:endParaRPr>
          </a:p>
        </p:txBody>
      </p:sp>
      <p:sp>
        <p:nvSpPr>
          <p:cNvPr id="219" name="Google Shape;219;g3eb99339c81_0_338"/>
          <p:cNvSpPr/>
          <p:nvPr/>
        </p:nvSpPr>
        <p:spPr>
          <a:xfrm>
            <a:off x="3151337" y="2629046"/>
            <a:ext cx="2002200" cy="5301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1227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sz="1803"/>
          </a:p>
        </p:txBody>
      </p:sp>
      <p:sp>
        <p:nvSpPr>
          <p:cNvPr id="220" name="Google Shape;220;g3eb99339c81_0_338"/>
          <p:cNvSpPr/>
          <p:nvPr/>
        </p:nvSpPr>
        <p:spPr>
          <a:xfrm>
            <a:off x="5153378" y="2629046"/>
            <a:ext cx="1295400" cy="5301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1227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Accuracy*</a:t>
            </a:r>
            <a:endParaRPr sz="1803"/>
          </a:p>
        </p:txBody>
      </p:sp>
      <p:sp>
        <p:nvSpPr>
          <p:cNvPr id="221" name="Google Shape;221;g3eb99339c81_0_338"/>
          <p:cNvSpPr/>
          <p:nvPr/>
        </p:nvSpPr>
        <p:spPr>
          <a:xfrm>
            <a:off x="6448819" y="2629046"/>
            <a:ext cx="1295400" cy="5301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1227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Recall*</a:t>
            </a:r>
            <a:endParaRPr sz="1803"/>
          </a:p>
        </p:txBody>
      </p:sp>
      <p:sp>
        <p:nvSpPr>
          <p:cNvPr id="222" name="Google Shape;222;g3eb99339c81_0_338"/>
          <p:cNvSpPr/>
          <p:nvPr/>
        </p:nvSpPr>
        <p:spPr>
          <a:xfrm>
            <a:off x="7744259" y="2629046"/>
            <a:ext cx="1295400" cy="5301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1227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1803"/>
          </a:p>
        </p:txBody>
      </p:sp>
      <p:sp>
        <p:nvSpPr>
          <p:cNvPr id="223" name="Google Shape;223;g3eb99339c81_0_338"/>
          <p:cNvSpPr/>
          <p:nvPr/>
        </p:nvSpPr>
        <p:spPr>
          <a:xfrm>
            <a:off x="3151337" y="3158997"/>
            <a:ext cx="2002200" cy="5301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Logistic</a:t>
            </a:r>
            <a:endParaRPr sz="1803"/>
          </a:p>
        </p:txBody>
      </p:sp>
      <p:sp>
        <p:nvSpPr>
          <p:cNvPr id="224" name="Google Shape;224;g3eb99339c81_0_338"/>
          <p:cNvSpPr/>
          <p:nvPr/>
        </p:nvSpPr>
        <p:spPr>
          <a:xfrm>
            <a:off x="5153378" y="3158997"/>
            <a:ext cx="1295400" cy="5301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0,651</a:t>
            </a:r>
            <a:endParaRPr sz="1803"/>
          </a:p>
        </p:txBody>
      </p:sp>
      <p:sp>
        <p:nvSpPr>
          <p:cNvPr id="225" name="Google Shape;225;g3eb99339c81_0_338"/>
          <p:cNvSpPr/>
          <p:nvPr/>
        </p:nvSpPr>
        <p:spPr>
          <a:xfrm>
            <a:off x="6448819" y="3158997"/>
            <a:ext cx="1295400" cy="5301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0,935</a:t>
            </a:r>
            <a:endParaRPr sz="1803"/>
          </a:p>
        </p:txBody>
      </p:sp>
      <p:sp>
        <p:nvSpPr>
          <p:cNvPr id="226" name="Google Shape;226;g3eb99339c81_0_338"/>
          <p:cNvSpPr/>
          <p:nvPr/>
        </p:nvSpPr>
        <p:spPr>
          <a:xfrm>
            <a:off x="7744259" y="3158997"/>
            <a:ext cx="1295400" cy="5301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0,210</a:t>
            </a:r>
            <a:endParaRPr sz="1803"/>
          </a:p>
        </p:txBody>
      </p:sp>
      <p:sp>
        <p:nvSpPr>
          <p:cNvPr id="227" name="Google Shape;227;g3eb99339c81_0_338"/>
          <p:cNvSpPr/>
          <p:nvPr/>
        </p:nvSpPr>
        <p:spPr>
          <a:xfrm>
            <a:off x="3151337" y="3688949"/>
            <a:ext cx="2002200" cy="5301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sz="1803"/>
          </a:p>
        </p:txBody>
      </p:sp>
      <p:sp>
        <p:nvSpPr>
          <p:cNvPr id="228" name="Google Shape;228;g3eb99339c81_0_338"/>
          <p:cNvSpPr/>
          <p:nvPr/>
        </p:nvSpPr>
        <p:spPr>
          <a:xfrm>
            <a:off x="5153378" y="3688949"/>
            <a:ext cx="1295400" cy="5301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0,715</a:t>
            </a:r>
            <a:endParaRPr sz="1803"/>
          </a:p>
        </p:txBody>
      </p:sp>
      <p:sp>
        <p:nvSpPr>
          <p:cNvPr id="229" name="Google Shape;229;g3eb99339c81_0_338"/>
          <p:cNvSpPr/>
          <p:nvPr/>
        </p:nvSpPr>
        <p:spPr>
          <a:xfrm>
            <a:off x="6448819" y="3688949"/>
            <a:ext cx="1295400" cy="5301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0,893</a:t>
            </a:r>
            <a:endParaRPr sz="1803"/>
          </a:p>
        </p:txBody>
      </p:sp>
      <p:sp>
        <p:nvSpPr>
          <p:cNvPr id="230" name="Google Shape;230;g3eb99339c81_0_338"/>
          <p:cNvSpPr/>
          <p:nvPr/>
        </p:nvSpPr>
        <p:spPr>
          <a:xfrm>
            <a:off x="7744259" y="3688949"/>
            <a:ext cx="1295400" cy="5301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0,237</a:t>
            </a:r>
            <a:endParaRPr sz="1803"/>
          </a:p>
        </p:txBody>
      </p:sp>
      <p:sp>
        <p:nvSpPr>
          <p:cNvPr id="231" name="Google Shape;231;g3eb99339c81_0_338"/>
          <p:cNvSpPr/>
          <p:nvPr/>
        </p:nvSpPr>
        <p:spPr>
          <a:xfrm>
            <a:off x="3151337" y="4218900"/>
            <a:ext cx="2002200" cy="530100"/>
          </a:xfrm>
          <a:prstGeom prst="rect">
            <a:avLst/>
          </a:prstGeom>
          <a:solidFill>
            <a:srgbClr val="EEE1F2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803"/>
          </a:p>
        </p:txBody>
      </p:sp>
      <p:sp>
        <p:nvSpPr>
          <p:cNvPr id="232" name="Google Shape;232;g3eb99339c81_0_338"/>
          <p:cNvSpPr/>
          <p:nvPr/>
        </p:nvSpPr>
        <p:spPr>
          <a:xfrm>
            <a:off x="5153378" y="4218900"/>
            <a:ext cx="1295400" cy="530100"/>
          </a:xfrm>
          <a:prstGeom prst="rect">
            <a:avLst/>
          </a:prstGeom>
          <a:solidFill>
            <a:srgbClr val="EEE1F2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0,720</a:t>
            </a:r>
            <a:endParaRPr sz="1803"/>
          </a:p>
        </p:txBody>
      </p:sp>
      <p:sp>
        <p:nvSpPr>
          <p:cNvPr id="233" name="Google Shape;233;g3eb99339c81_0_338"/>
          <p:cNvSpPr/>
          <p:nvPr/>
        </p:nvSpPr>
        <p:spPr>
          <a:xfrm>
            <a:off x="6448819" y="4218900"/>
            <a:ext cx="1295400" cy="530100"/>
          </a:xfrm>
          <a:prstGeom prst="rect">
            <a:avLst/>
          </a:prstGeom>
          <a:solidFill>
            <a:srgbClr val="EEE1F2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0,898</a:t>
            </a:r>
            <a:endParaRPr sz="1803"/>
          </a:p>
        </p:txBody>
      </p:sp>
      <p:sp>
        <p:nvSpPr>
          <p:cNvPr id="234" name="Google Shape;234;g3eb99339c81_0_338"/>
          <p:cNvSpPr/>
          <p:nvPr/>
        </p:nvSpPr>
        <p:spPr>
          <a:xfrm>
            <a:off x="7744259" y="4218900"/>
            <a:ext cx="1295400" cy="530100"/>
          </a:xfrm>
          <a:prstGeom prst="rect">
            <a:avLst/>
          </a:prstGeom>
          <a:solidFill>
            <a:srgbClr val="EEE1F2"/>
          </a:solidFill>
          <a:ln cap="flat" cmpd="sng" w="122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2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0,242</a:t>
            </a:r>
            <a:endParaRPr sz="1803"/>
          </a:p>
        </p:txBody>
      </p:sp>
      <p:sp>
        <p:nvSpPr>
          <p:cNvPr id="235" name="Google Shape;235;g3eb99339c81_0_338"/>
          <p:cNvSpPr/>
          <p:nvPr/>
        </p:nvSpPr>
        <p:spPr>
          <a:xfrm>
            <a:off x="3033750" y="1022832"/>
            <a:ext cx="6124200" cy="5745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1227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rgbClr val="262626"/>
                </a:solidFill>
              </a:rPr>
              <a:t>Selección basada en</a:t>
            </a:r>
            <a:endParaRPr b="1" sz="1932"/>
          </a:p>
        </p:txBody>
      </p:sp>
      <p:sp>
        <p:nvSpPr>
          <p:cNvPr id="236" name="Google Shape;236;g3eb99339c81_0_338"/>
          <p:cNvSpPr/>
          <p:nvPr/>
        </p:nvSpPr>
        <p:spPr>
          <a:xfrm>
            <a:off x="7116249" y="1766779"/>
            <a:ext cx="2041200" cy="5745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1227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rgbClr val="262626"/>
                </a:solidFill>
              </a:rPr>
              <a:t>Estabilidad</a:t>
            </a:r>
            <a:endParaRPr b="1" sz="1932"/>
          </a:p>
        </p:txBody>
      </p:sp>
      <p:sp>
        <p:nvSpPr>
          <p:cNvPr id="237" name="Google Shape;237;g3eb99339c81_0_338"/>
          <p:cNvSpPr/>
          <p:nvPr/>
        </p:nvSpPr>
        <p:spPr>
          <a:xfrm>
            <a:off x="5074935" y="1766779"/>
            <a:ext cx="2041200" cy="5745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1227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rgbClr val="262626"/>
                </a:solidFill>
              </a:rPr>
              <a:t>Recall</a:t>
            </a:r>
            <a:endParaRPr b="1" sz="1932"/>
          </a:p>
        </p:txBody>
      </p:sp>
      <p:sp>
        <p:nvSpPr>
          <p:cNvPr id="238" name="Google Shape;238;g3eb99339c81_0_338"/>
          <p:cNvSpPr/>
          <p:nvPr/>
        </p:nvSpPr>
        <p:spPr>
          <a:xfrm>
            <a:off x="3033770" y="1766779"/>
            <a:ext cx="2041200" cy="5745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1227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51517" rotWithShape="0" dir="5400000" dist="29622">
              <a:srgbClr val="000000">
                <a:alpha val="34900"/>
              </a:srgbClr>
            </a:outerShdw>
          </a:effectLst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6">
                <a:solidFill>
                  <a:srgbClr val="262626"/>
                </a:solidFill>
              </a:rPr>
              <a:t>F1</a:t>
            </a:r>
            <a:endParaRPr b="1" sz="1932"/>
          </a:p>
        </p:txBody>
      </p:sp>
      <p:pic>
        <p:nvPicPr>
          <p:cNvPr id="239" name="Google Shape;239;g3eb99339c81_0_3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29890" y="1344638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eb99339c81_0_338"/>
          <p:cNvSpPr/>
          <p:nvPr/>
        </p:nvSpPr>
        <p:spPr>
          <a:xfrm>
            <a:off x="2703600" y="5017650"/>
            <a:ext cx="6784800" cy="914400"/>
          </a:xfrm>
          <a:prstGeom prst="roundRect">
            <a:avLst>
              <a:gd fmla="val 16667" name="adj"/>
            </a:avLst>
          </a:prstGeom>
          <a:solidFill>
            <a:srgbClr val="F7F3F9"/>
          </a:solidFill>
          <a:ln cap="flat" cmpd="sng" w="9525">
            <a:solidFill>
              <a:srgbClr val="D2BE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62626"/>
                </a:solidFill>
              </a:rPr>
              <a:t>RandomForest obtuvo el mejor equilibrio entre capacidad predictiva y estabilidad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411480" y="137160"/>
            <a:ext cx="9509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Evaluación del modelo ganador: matriz de confusión</a:t>
            </a:r>
            <a:endParaRPr/>
          </a:p>
        </p:txBody>
      </p:sp>
      <p:pic>
        <p:nvPicPr>
          <p:cNvPr descr="Logos-3-png_Logo-secundario-1-1024x496.png" id="247" name="Google Shape;2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0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 txBox="1"/>
          <p:nvPr/>
        </p:nvSpPr>
        <p:spPr>
          <a:xfrm>
            <a:off x="411480" y="6473952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C5C5C"/>
                </a:solidFill>
                <a:latin typeface="Arial"/>
                <a:ea typeface="Arial"/>
                <a:cs typeface="Arial"/>
                <a:sym typeface="Arial"/>
              </a:rPr>
              <a:t>UNICABA · Trabajo Final · Programación Avanzada en Ciencia de Datos</a:t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7686125" y="1826803"/>
            <a:ext cx="4132200" cy="260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80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33963" rotWithShape="0" dir="5400000" dist="19529">
              <a:srgbClr val="000000">
                <a:alpha val="34901"/>
              </a:srgbClr>
            </a:outerShdw>
          </a:effectLst>
        </p:spPr>
        <p:txBody>
          <a:bodyPr anchorCtr="0" anchor="ctr" bIns="38800" lIns="77625" spcFirstLastPara="1" rIns="77625" wrap="square" tIns="38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17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Lectura analítica</a:t>
            </a:r>
            <a:endParaRPr b="1" sz="2717">
              <a:solidFill>
                <a:srgbClr val="522263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38819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solidFill>
                <a:srgbClr val="262626"/>
              </a:solidFill>
            </a:endParaRPr>
          </a:p>
          <a:p>
            <a:pPr indent="-274970" lvl="0" marL="38819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74"/>
              <a:buFont typeface="Arial"/>
              <a:buChar char="●"/>
            </a:pPr>
            <a:r>
              <a:rPr lang="en-US" sz="127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El modelo detecta la mayoría de los casos graves o mortales.</a:t>
            </a:r>
            <a:endParaRPr sz="1189"/>
          </a:p>
          <a:p>
            <a:pPr indent="-274970" lvl="0" marL="38819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74"/>
              <a:buFont typeface="Arial"/>
              <a:buChar char="●"/>
            </a:pPr>
            <a:r>
              <a:rPr lang="en-US" sz="127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Se aceptan más falsos positivos para reducir falsos negativos.</a:t>
            </a:r>
            <a:endParaRPr sz="1189"/>
          </a:p>
          <a:p>
            <a:pPr indent="-274970" lvl="0" marL="38819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74"/>
              <a:buFont typeface="Arial"/>
              <a:buChar char="●"/>
            </a:pPr>
            <a:r>
              <a:rPr lang="en-US" sz="127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En este problema, no detectar un caso crítico tiene mayor costo.</a:t>
            </a:r>
            <a:endParaRPr sz="1189"/>
          </a:p>
        </p:txBody>
      </p:sp>
      <p:pic>
        <p:nvPicPr>
          <p:cNvPr id="250" name="Google Shape;25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80" y="952925"/>
            <a:ext cx="7368371" cy="5521025"/>
          </a:xfrm>
          <a:prstGeom prst="rect">
            <a:avLst/>
          </a:prstGeom>
          <a:noFill/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251" name="Google Shape;251;p8"/>
          <p:cNvSpPr/>
          <p:nvPr/>
        </p:nvSpPr>
        <p:spPr>
          <a:xfrm>
            <a:off x="7686125" y="4782198"/>
            <a:ext cx="4132200" cy="89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807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33963" rotWithShape="0" dir="5400000" dist="19529">
              <a:srgbClr val="000000">
                <a:alpha val="34900"/>
              </a:srgbClr>
            </a:outerShdw>
          </a:effectLst>
        </p:spPr>
        <p:txBody>
          <a:bodyPr anchorCtr="0" anchor="ctr" bIns="38800" lIns="77625" spcFirstLastPara="1" rIns="77625" wrap="square" tIns="38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8">
                <a:solidFill>
                  <a:srgbClr val="262626"/>
                </a:solidFill>
              </a:rPr>
              <a:t>El modelo </a:t>
            </a:r>
            <a:r>
              <a:rPr b="1" lang="en-US" sz="1528">
                <a:solidFill>
                  <a:srgbClr val="262626"/>
                </a:solidFill>
              </a:rPr>
              <a:t>podría</a:t>
            </a:r>
            <a:r>
              <a:rPr b="1" lang="en-US" sz="1528">
                <a:solidFill>
                  <a:srgbClr val="262626"/>
                </a:solidFill>
              </a:rPr>
              <a:t> utilizarse para priorizar controles preventivos sobre casos con mayor riesgo</a:t>
            </a:r>
            <a:endParaRPr b="1" sz="1443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411480" y="137160"/>
            <a:ext cx="950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La hipótesis fue validada parcialmente</a:t>
            </a:r>
            <a:endParaRPr/>
          </a:p>
        </p:txBody>
      </p:sp>
      <p:pic>
        <p:nvPicPr>
          <p:cNvPr descr="Logos-3-png_Logo-secundario-1-1024x496.png" id="258" name="Google Shape;2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0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 txBox="1"/>
          <p:nvPr/>
        </p:nvSpPr>
        <p:spPr>
          <a:xfrm>
            <a:off x="411470" y="6473950"/>
            <a:ext cx="1138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5C5C5C"/>
                </a:solidFill>
              </a:rPr>
              <a:t>Fortunesky Iván - Scarafilo Germán - UNICABA · Trabajo Final · Programación Avanzada en Ciencia de Datos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5C5C"/>
              </a:solidFill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146000" y="4041825"/>
            <a:ext cx="9899700" cy="237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rPr>
              <a:t>Validación de la hipótesis</a:t>
            </a:r>
            <a:endParaRPr b="1" sz="3200">
              <a:solidFill>
                <a:srgbClr val="522263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262626"/>
                </a:solidFill>
              </a:rPr>
              <a:t>Las variables de la víctima y del contexto aportan información útil para anticipar la gravedad del siniestro. </a:t>
            </a:r>
            <a:endParaRPr sz="1700">
              <a:solidFill>
                <a:srgbClr val="26262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262626"/>
                </a:solidFill>
              </a:rPr>
              <a:t>El modelo logró identificar la mayoría de los casos graves o mortales (Recall ≈ 0,90), validando parcialmente la hipótesis planteada.</a:t>
            </a:r>
            <a:endParaRPr sz="1700">
              <a:solidFill>
                <a:srgbClr val="26262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262626"/>
                </a:solidFill>
              </a:rPr>
              <a:t>Sin embargo, el F1 moderado indica que aún existen factores relevantes no presentes</a:t>
            </a:r>
            <a:endParaRPr sz="1700">
              <a:solidFill>
                <a:srgbClr val="262626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62626"/>
                </a:solidFill>
              </a:rPr>
              <a:t>en el dataset. </a:t>
            </a:r>
            <a:endParaRPr sz="1700">
              <a:solidFill>
                <a:srgbClr val="262626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638" y="1513944"/>
            <a:ext cx="5745501" cy="2446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3700" y="1513950"/>
            <a:ext cx="5012500" cy="244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0"/>
          <p:cNvGrpSpPr/>
          <p:nvPr/>
        </p:nvGrpSpPr>
        <p:grpSpPr>
          <a:xfrm>
            <a:off x="4131221" y="756908"/>
            <a:ext cx="3342755" cy="640200"/>
            <a:chOff x="9698199" y="2230601"/>
            <a:chExt cx="3342755" cy="640200"/>
          </a:xfrm>
        </p:grpSpPr>
        <p:sp>
          <p:nvSpPr>
            <p:cNvPr id="264" name="Google Shape;264;p10"/>
            <p:cNvSpPr/>
            <p:nvPr/>
          </p:nvSpPr>
          <p:spPr>
            <a:xfrm>
              <a:off x="9698199" y="2230601"/>
              <a:ext cx="992100" cy="640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b="50%" l="50%" r="50%" t="50%"/>
              </a:path>
              <a:tileRect/>
            </a:gradFill>
            <a:ln cap="flat" cmpd="sng" w="6650">
              <a:solidFill>
                <a:srgbClr val="7A2D8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7999" rotWithShape="0" dir="5400000" dist="16100">
                <a:srgbClr val="000000">
                  <a:alpha val="34900"/>
                </a:srgbClr>
              </a:outerShdw>
            </a:effectLst>
          </p:spPr>
          <p:txBody>
            <a:bodyPr anchorCtr="0" anchor="ctr" bIns="31975" lIns="64000" spcFirstLastPara="1" rIns="64000" wrap="square" tIns="319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80">
                  <a:solidFill>
                    <a:srgbClr val="522263"/>
                  </a:solidFill>
                  <a:latin typeface="Play"/>
                  <a:ea typeface="Play"/>
                  <a:cs typeface="Play"/>
                  <a:sym typeface="Play"/>
                </a:rPr>
                <a:t>553</a:t>
              </a:r>
              <a:endParaRPr sz="980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262626"/>
                  </a:solidFill>
                </a:rPr>
                <a:t>casos críticos detectados</a:t>
              </a:r>
              <a:endParaRPr b="1" sz="700">
                <a:solidFill>
                  <a:srgbClr val="262626"/>
                </a:solidFill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rgbClr val="262626"/>
                </a:solidFill>
              </a:endParaRPr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12048854" y="2230601"/>
              <a:ext cx="992100" cy="640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path path="circle">
                <a:fillToRect b="50%" l="50%" r="50%" t="50%"/>
              </a:path>
              <a:tileRect/>
            </a:gradFill>
            <a:ln cap="flat" cmpd="sng" w="6650">
              <a:solidFill>
                <a:srgbClr val="7A2D8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7999" rotWithShape="0" dir="5400000" dist="16100">
                <a:srgbClr val="000000">
                  <a:alpha val="34900"/>
                </a:srgbClr>
              </a:outerShdw>
            </a:effectLst>
          </p:spPr>
          <p:txBody>
            <a:bodyPr anchorCtr="0" anchor="ctr" bIns="31975" lIns="64000" spcFirstLastPara="1" rIns="64000" wrap="square" tIns="319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80">
                  <a:solidFill>
                    <a:srgbClr val="522263"/>
                  </a:solidFill>
                  <a:latin typeface="Play"/>
                  <a:ea typeface="Play"/>
                  <a:cs typeface="Play"/>
                  <a:sym typeface="Play"/>
                </a:rPr>
                <a:t>63</a:t>
              </a:r>
              <a:endParaRPr sz="980"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262626"/>
                  </a:solidFill>
                </a:rPr>
                <a:t>casos críticos perdidos</a:t>
              </a:r>
              <a:endParaRPr b="1" sz="980"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10899166" y="2230601"/>
              <a:ext cx="992100" cy="6402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6DB"/>
                </a:gs>
                <a:gs pos="100000">
                  <a:srgbClr val="FAD15C"/>
                </a:gs>
              </a:gsLst>
              <a:path path="circle">
                <a:fillToRect b="50%" l="50%" r="50%" t="50%"/>
              </a:path>
              <a:tileRect/>
            </a:gradFill>
            <a:ln cap="flat" cmpd="sng" w="6650">
              <a:solidFill>
                <a:srgbClr val="7A2D8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27999" rotWithShape="0" dir="5400000" dist="16100">
                <a:srgbClr val="000000">
                  <a:alpha val="34900"/>
                </a:srgbClr>
              </a:outerShdw>
            </a:effectLst>
          </p:spPr>
          <p:txBody>
            <a:bodyPr anchorCtr="0" anchor="ctr" bIns="31975" lIns="64000" spcFirstLastPara="1" rIns="64000" wrap="square" tIns="319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80">
                  <a:solidFill>
                    <a:srgbClr val="522263"/>
                  </a:solidFill>
                  <a:latin typeface="Play"/>
                  <a:ea typeface="Play"/>
                  <a:cs typeface="Play"/>
                  <a:sym typeface="Play"/>
                </a:rPr>
                <a:t>0,90</a:t>
              </a:r>
              <a:endParaRPr b="1" sz="1680">
                <a:solidFill>
                  <a:srgbClr val="522263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">
                  <a:solidFill>
                    <a:srgbClr val="262626"/>
                  </a:solidFill>
                </a:rPr>
                <a:t>Recall</a:t>
              </a:r>
              <a:endParaRPr b="1" sz="700">
                <a:solidFill>
                  <a:srgbClr val="26262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-US" sz="700">
                  <a:solidFill>
                    <a:srgbClr val="262626"/>
                  </a:solidFill>
                </a:rPr>
                <a:t>90% de los casos detectados</a:t>
              </a:r>
              <a:endParaRPr b="1" sz="700">
                <a:solidFill>
                  <a:srgbClr val="262626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b99339c81_0_369"/>
          <p:cNvSpPr/>
          <p:nvPr/>
        </p:nvSpPr>
        <p:spPr>
          <a:xfrm>
            <a:off x="0" y="0"/>
            <a:ext cx="12191700" cy="640200"/>
          </a:xfrm>
          <a:prstGeom prst="rect">
            <a:avLst/>
          </a:prstGeom>
          <a:solidFill>
            <a:srgbClr val="374151"/>
          </a:solidFill>
          <a:ln cap="flat" cmpd="sng" w="9525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eb99339c81_0_369"/>
          <p:cNvSpPr txBox="1"/>
          <p:nvPr/>
        </p:nvSpPr>
        <p:spPr>
          <a:xfrm>
            <a:off x="411480" y="137160"/>
            <a:ext cx="950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Conclusiones</a:t>
            </a:r>
            <a:endParaRPr/>
          </a:p>
        </p:txBody>
      </p:sp>
      <p:pic>
        <p:nvPicPr>
          <p:cNvPr descr="Logos-3-png_Logo-secundario-1-1024x496.png" id="273" name="Google Shape;273;g3eb99339c81_0_3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8440" y="164592"/>
            <a:ext cx="1417321" cy="68651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eb99339c81_0_369"/>
          <p:cNvSpPr txBox="1"/>
          <p:nvPr/>
        </p:nvSpPr>
        <p:spPr>
          <a:xfrm>
            <a:off x="411469" y="6473950"/>
            <a:ext cx="1162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700">
                <a:solidFill>
                  <a:srgbClr val="5C5C5C"/>
                </a:solidFill>
              </a:rPr>
              <a:t>Fortunesky Iván - Scarafilo Germán - UNICABA · Trabajo Final · Programación Avanzada en Ciencia de Datos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C5C5C"/>
              </a:solidFill>
            </a:endParaRPr>
          </a:p>
        </p:txBody>
      </p:sp>
      <p:sp>
        <p:nvSpPr>
          <p:cNvPr id="275" name="Google Shape;275;g3eb99339c81_0_369"/>
          <p:cNvSpPr/>
          <p:nvPr/>
        </p:nvSpPr>
        <p:spPr>
          <a:xfrm>
            <a:off x="1500650" y="1165294"/>
            <a:ext cx="9088200" cy="416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522263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 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Demostramos que es posible construir un pipeline reproducible de Ciencia de Datos capaz de identificar casos potencialmente graves dentro de un conjunto altamente desbalanceado.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La hipótesis fue validada parcialmente: las variables de la víctima y del contexto contienen información útil para anticipar la gravedad del siniestro, aunque existen factores relevantes no presentes en el dataset.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Los resultados sugieren que la edad y la vulnerabilidad del usuario están asociadas a una mayor incidencia de lesiones graves o mortales, aportando evidencia para la toma de decisiones preventivas.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Germán</dc:creator>
</cp:coreProperties>
</file>